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2. Success by research package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Research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Success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success vs Survey (pp)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cost vs Survey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turnaround vs Survey (days)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+10.9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+2,954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+3.7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+6,039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+7.4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4. First model — linear regression on survey measures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61.336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Observations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0.042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4.452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Adjusted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5. Second model — adding the behavioural measure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47.431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Observations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204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Baseline R² (same subset)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0.109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4.226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Model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0.182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Model adjusted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6. Third model — adding the implicit measure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096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51.460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Observations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Baseline R² (same subset)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0.185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Model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0.225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Model adjusted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0.178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Observations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100.0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97.238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Observations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204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50.0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0.179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5.565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 + implicit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096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Observations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50.0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0.202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Fit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OLS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Ridge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Alpha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100.0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 + 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50.0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 + behavioural + implicit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OLS (per 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Ridge (per SD)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94.060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1.962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2.817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OLS (per 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Ridge (per SD)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97.238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97.238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1.923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3.233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5.565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 + implicit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096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OLS (per 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Ridge (per SD)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98.509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0.761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1.053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6.196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3.839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3.219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92.123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1.051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2.691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95.533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1.849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2.497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4.979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 + implicit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96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96.366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-0.718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-4.127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7.755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3.455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Out-of-sample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91440">
                <a:tc>
                  <a:txBody>
                    <a:bodyPr/>
                    <a:lstStyle/>
                    <a:p>
                      <a:r>
                        <a:rPr sz="9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n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Train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MAE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19.0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/>
                        <a:t>Survey + 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15.5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/>
                        <a:t>Survey + behavioural + implicit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19.2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Option A — fixed regularisation (α =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Implicit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[-0.197, +0.302]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[-1.826, +1.534]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[-2.177, +1.617]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Option A — sensitivity to 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 ΔR²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Implicit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[-0.252, +0.381]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[-0.197, +0.302]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[-0.127, +0.207]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Option B — per-fold cross-validated 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Implicit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[-0.127, +0.282]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[-1.752, +1.121]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[-1.782, +1.267]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Option A — fixed regularisation (α =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[-0.148, +0.215]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[-2.530, +1.275]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[-2.280, +1.242]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Option A — sensitivity to 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 ΔR²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[-0.160, +0.226]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[-0.148, +0.215]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[-0.114, +0.187]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Option B — per-fold cross-validated 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[-0.138, +0.206]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[-2.316, +1.145]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[-2.140, +1.065]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measures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064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354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Success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39.8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0.554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0.554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0.451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0.497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064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204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Success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45.1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0.624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0.573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0.641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0.605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0.713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+ behavioural + implicit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064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Success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50.0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0.643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0.643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0.647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0.629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0.638</a:t>
                      </a:r>
                    </a:p>
                  </a:txBody>
                  <a:tcPr/>
                </a:tc>
              </a:tr>
              <a:tr h="40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Success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ROC-AUC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0.597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 + 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0.713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 + behavioural + implicit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14. Time-ordered validation (2022–2024 → 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</a:tblGrid>
              <a:tr h="91440">
                <a:tc>
                  <a:txBody>
                    <a:bodyPr/>
                    <a:lstStyle/>
                    <a:p>
                      <a:r>
                        <a:rPr sz="9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n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Test success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Train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Test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Test 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Test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Test Brier score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0.236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/>
                        <a:t>Survey + 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0.221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/>
                        <a:t>Survey + behavioural + implicit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0.282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Implicit vs behavioural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Implicit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[-0.292, +0.272]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[-0.388, +0.214]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[-0.353, +0.250]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Behavioural vs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 better (% of folds)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[-0.113, +0.175]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balanced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[-0.138, +0.171]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Δ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[-0.155, +0.186]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Propensity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"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Odds ratio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0.507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Test_Year_2023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1.406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Test_Year_2024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3.577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Test_Year_2025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4.807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Category_Personal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0.928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Category_Snacks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0.837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Innovation_Type_New 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Propensity-score distributions (before weighting)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 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Min 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Max PS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0.720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Rich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Covariate balance (standardised mean differences)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2251">
                <a:tc>
                  <a:txBody>
                    <a:bodyPr/>
                    <a:lstStyle/>
                    <a:p>
                      <a:r>
                        <a:rPr sz="1100" b="1"/>
                        <a:t>Confounder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SMD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SMD after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Test_Year_2023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-0.138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Test_Year_2024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-0.032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Test_Year_2025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0.156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Category_Personal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-0.099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Category_Snacks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0.021</a:t>
                      </a:r>
                    </a:p>
                  </a:txBody>
                  <a:tcPr/>
                </a:tc>
              </a:tr>
              <a:tr h="52254">
                <a:tc>
                  <a:txBody>
                    <a:bodyPr/>
                    <a:lstStyle/>
                    <a:p>
                      <a:r>
                        <a:rPr sz="1000" b="0"/>
                        <a:t>Innovation_Type_New 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Effect estimate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Weighted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 success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32.0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Rich-package success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44.2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Difference (ATE, 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+12.2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Cost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C_FP — launch a loser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€74,350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C_FN — stop a winner (first pass)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€74,350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Launch_Support_EUR IQR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€59,175 - €87,225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Behavioural premium vs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€3,214 / concept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Evaluation set, folds and calibration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/>
                        <a:t>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Raw Brier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Recalibrated Brier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Base-rate Brier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0.248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Survey screen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6625">
                <a:tc>
                  <a:txBody>
                    <a:bodyPr/>
                    <a:lstStyle/>
                    <a:p>
                      <a:r>
                        <a:rPr sz="1100" b="1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FN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492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781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1028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1246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1431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1723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1775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1799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1814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1836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</a:tr>
              <a:tr h="16635">
                <a:tc>
                  <a:txBody>
                    <a:bodyPr/>
                    <a:lstStyle/>
                    <a:p>
                      <a:r>
                        <a:rPr sz="1000" b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Behavioural screen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6625">
                <a:tc>
                  <a:txBody>
                    <a:bodyPr/>
                    <a:lstStyle/>
                    <a:p>
                      <a:r>
                        <a:rPr sz="1100" b="1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FN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146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187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303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677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858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1032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1196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1339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1489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1628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1742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1808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1827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</a:tr>
              <a:tr h="16635">
                <a:tc>
                  <a:txBody>
                    <a:bodyPr/>
                    <a:lstStyle/>
                    <a:p>
                      <a:r>
                        <a:rPr sz="1000" b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Net value of switching from survey to behavioural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960"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Optimal threshold 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Survey expected cost /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€30,305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Behavioural expected cost /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€28,811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Decision saving / concept (survey - behavioural)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€+1,494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Net value / concept (saving - premium)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€-1,720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Net value of switching from survey to behavioural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(behavioural − survey)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False positive (launch a loser)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+88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False negative (stop a 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-170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Total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Plausible scenario — C_FN = 1.5 × C_FP (profit, not break-even)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"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C_FP (launch a loser)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€74,350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C_FN (stop a 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€111,525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Optimal threshold 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0.40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Survey expected cost /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€36,719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Behavioural expected cost /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€33,421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Decision saving / concept (survey - behavioural)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€+3,298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000" b="0"/>
                        <a:t>Net value / concept (saving - premium)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€+84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Each screen at its own empirical threshold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2251"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Survey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 = 0.55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Survey cost at that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€29,849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Behavioural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 = 0.65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Behavioural cost at that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€27,243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Decision saving / concept (survey - behavioural)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€+2,606</a:t>
                      </a:r>
                    </a:p>
                  </a:txBody>
                  <a:tcPr/>
                </a:tc>
              </a:tr>
              <a:tr h="52254">
                <a:tc>
                  <a:txBody>
                    <a:bodyPr/>
                    <a:lstStyle/>
                    <a:p>
                      <a:r>
                        <a:rPr sz="1000" b="0"/>
                        <a:t>Net value / concept (saving - premium)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€-608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Bootstrap confidence interval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82880">
                <a:tc>
                  <a:txBody>
                    <a:bodyPr/>
                    <a:lstStyle/>
                    <a:p>
                      <a:r>
                        <a:rPr sz="1100" b="1"/>
                        <a:t>Net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Point estimate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95% CI (€)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/>
                        <a:t>Per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[-6,259, +2,617]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Threshold-free summary (area under the cost curve)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Survey AUC (€ / concept)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34,340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Behavioural AUC (€ / concept)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32,206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Threshold-free saving /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€+2,135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Threshold-free net value /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€-1,080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Sensitivity to the cost of a false negative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6625">
                <a:tc>
                  <a:txBody>
                    <a:bodyPr/>
                    <a:lstStyle/>
                    <a:p>
                      <a:r>
                        <a:rPr sz="1100" b="1"/>
                        <a:t>C_FP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C_FN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Net value / concept (€)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-2,025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-741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-852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92,938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-1,173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111,525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-1,009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148,700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-1,495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223,050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-2,532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-1,989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-1,720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+174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92,938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-25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111,525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+84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148,700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+977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223,050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-3,196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59,175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-904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74,350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-1,861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-1,461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92,938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-144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111,525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+832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148,700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-286</a:t>
                      </a:r>
                    </a:p>
                  </a:txBody>
                  <a:tcPr/>
                </a:tc>
              </a:tr>
              <a:tr h="16635">
                <a:tc>
                  <a:txBody>
                    <a:bodyPr/>
                    <a:lstStyle/>
                    <a:p>
                      <a:r>
                        <a:rPr sz="1000" b="0"/>
                        <a:t>87,225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223,050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-1,133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Adding the implicit screen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Implicit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(implicit − behavioural)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False positive (launch a loser)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+16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False negative (stop a 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Total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Implicit screen — sensitivity to FP/FN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6625">
                <a:tc>
                  <a:txBody>
                    <a:bodyPr/>
                    <a:lstStyle/>
                    <a:p>
                      <a:r>
                        <a:rPr sz="1100" b="1"/>
                        <a:t>C_FP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C_FN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Net value / concept (€)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-3,574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-4,705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-3,039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102,125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-2,801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122,550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-2,589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-3,660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245,100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-5,022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-2,297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-3,637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-4,460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102,125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-4,104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122,550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-2,558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-3,521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245,100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-5,621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-1,822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-1,585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-3,746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102,125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-4,822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122,550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-4,282</a:t>
                      </a:r>
                    </a:p>
                  </a:txBody>
                  <a:tcPr/>
                </a:tc>
              </a:tr>
              <a:tr h="16625"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-2,895</a:t>
                      </a:r>
                    </a:p>
                  </a:txBody>
                  <a:tcPr/>
                </a:tc>
              </a:tr>
              <a:tr h="16635">
                <a:tc>
                  <a:txBody>
                    <a:bodyPr/>
                    <a:lstStyle/>
                    <a:p>
                      <a:r>
                        <a:rPr sz="1000" b="0"/>
                        <a:t>98,600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245,100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-4,756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