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1. Dataset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60960">
                <a:tc>
                  <a:txBody>
                    <a:bodyPr/>
                    <a:lstStyle/>
                    <a:p>
                      <a:r>
                        <a:rPr sz="1100" b="1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Value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Concepts (rows)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Years covered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2022–2025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Concepts launched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403 (53.7%)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r>
                        <a:rPr sz="1000" b="0"/>
                        <a:t>Total research cost (€)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8,633,060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Product category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91440">
                <a:tc>
                  <a:txBody>
                    <a:bodyPr/>
                    <a:lstStyle/>
                    <a:p>
                      <a:r>
                        <a:rPr sz="1100" b="1"/>
                        <a:t>Product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Pct (%)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Snacks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43.1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Drinks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35.9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Personal 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21.1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Innovation type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121920">
                <a:tc>
                  <a:txBody>
                    <a:bodyPr/>
                    <a:lstStyle/>
                    <a:p>
                      <a:r>
                        <a:rPr sz="1100" b="1"/>
                        <a:t>Innovation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Pct (%)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000" b="0"/>
                        <a:t>Incremental 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64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000" b="0"/>
                        <a:t>New proposition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Research package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91440">
                <a:tc>
                  <a:txBody>
                    <a:bodyPr/>
                    <a:lstStyle/>
                    <a:p>
                      <a:r>
                        <a:rPr sz="1100" b="1"/>
                        <a:t>Research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Pct (%)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38.7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Behavioural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36.5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Combined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24.8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Research recommendation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91440">
                <a:tc>
                  <a:txBody>
                    <a:bodyPr/>
                    <a:lstStyle/>
                    <a:p>
                      <a:r>
                        <a:rPr sz="1100" b="1"/>
                        <a:t>Research 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Pct (%)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35.9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32.7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Refine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31.5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Test year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73152">
                <a:tc>
                  <a:txBody>
                    <a:bodyPr/>
                    <a:lstStyle/>
                    <a:p>
                      <a:r>
                        <a:rPr sz="1100" b="1"/>
                        <a:t>Test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Pct (%)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21.9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28.5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25.5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24.1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Launched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121920">
                <a:tc>
                  <a:txBody>
                    <a:bodyPr/>
                    <a:lstStyle/>
                    <a:p>
                      <a:r>
                        <a:rPr sz="1100" b="1"/>
                        <a:t>Launched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Pct (%)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000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53.7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000" b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46.3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Research package by year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73152">
                <a:tc>
                  <a:txBody>
                    <a:bodyPr/>
                    <a:lstStyle/>
                    <a:p>
                      <a:r>
                        <a:rPr sz="1100" b="1"/>
                        <a:t>Test_Year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Behavioural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Combined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21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72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Research package by year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73152">
                <a:tc>
                  <a:txBody>
                    <a:bodyPr/>
                    <a:lstStyle/>
                    <a:p>
                      <a:r>
                        <a:rPr sz="1100" b="1"/>
                        <a:t>Test_Year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Behavioural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Combined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12.8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14.5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37.7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r>
                        <a:rPr sz="1000" b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34.3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Research package by year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91440">
                <a:tc>
                  <a:txBody>
                    <a:bodyPr/>
                    <a:lstStyle/>
                    <a:p>
                      <a:r>
                        <a:rPr sz="1100" b="1"/>
                        <a:t>Research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2022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2025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Change (pp)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-38.2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Behavioural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16.7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Combined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21.4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3. Numeric summary statistics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712"/>
                <a:gridCol w="1124712"/>
                <a:gridCol w="1124712"/>
                <a:gridCol w="1124712"/>
                <a:gridCol w="1124712"/>
                <a:gridCol w="1124712"/>
                <a:gridCol w="1124712"/>
                <a:gridCol w="1124712"/>
                <a:gridCol w="1124712"/>
                <a:gridCol w="1124712"/>
              </a:tblGrid>
              <a:tr h="30480">
                <a:tc>
                  <a:txBody>
                    <a:bodyPr/>
                    <a:lstStyle/>
                    <a:p>
                      <a:r>
                        <a:rPr sz="900" b="1"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Q25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Q75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Missing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800" b="0"/>
                        <a:t>Sample_Size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248.59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82.17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800" b="0"/>
                        <a:t>Turnaround_Days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15.29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3.73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800" b="0"/>
                        <a:t>Research_Cost_EUR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11510.75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2988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4480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9062.5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11335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13735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19730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800" b="0"/>
                        <a:t>Stated_Appeal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4.37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16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800" b="0"/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20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800" b="0"/>
                        <a:t>Behavioural_Choice_Pct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29.44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11.98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21.6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37.5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65.4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319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800" b="0"/>
                        <a:t>Implicit_Score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51.3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13.91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41.95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51.3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61.45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86.4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583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800" b="0"/>
                        <a:t>Launch_Support_EUR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66070.7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23377.9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50475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65050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81625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149500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378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800" b="0"/>
                        <a:t>Distribution_Pct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59.23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17.28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46.6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58.8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70.9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366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800" b="0"/>
                        <a:t>Sales_vs_Target_Pct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94.11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23.82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34.8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77.9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95.1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379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800" b="0"/>
                        <a:t>Repeat_Purchase_Pct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26.41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9.09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20.65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26.3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32.28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51.2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392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Research cost and turnaround by package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91440">
                <a:tc>
                  <a:txBody>
                    <a:bodyPr/>
                    <a:lstStyle/>
                    <a:p>
                      <a:r>
                        <a:rPr sz="1100" b="1"/>
                        <a:t>Research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Mean cost (€)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Δ cost vs Survey (€)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Mean turnaround (days)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Δ turnaround vs Survey (days)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8,767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—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Behavioural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11,982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+3,214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+3.8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Combined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15,094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+6,326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+7.5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Correlations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30480">
                <a:tc>
                  <a:txBody>
                    <a:bodyPr/>
                    <a:lstStyle/>
                    <a:p>
                      <a:r>
                        <a:rPr sz="900" b="1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Sample_Size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Turnaround_Days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Research_Cost_EUR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Stated_Appeal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Behavioural_Choice_Pct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Implicit_Score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800" b="0"/>
                        <a:t>Sample_Size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-0.03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-0.01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800" b="0"/>
                        <a:t>Turnaround_Days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-0.03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-0.02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800" b="0"/>
                        <a:t>Research_Cost_EUR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-0.03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0.02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800" b="0"/>
                        <a:t>Stated_Appeal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0.3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800" b="0"/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-0.03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0.4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800" b="0"/>
                        <a:t>Behavioural_Choice_Pct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-0.03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-0.03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0.49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800" b="0"/>
                        <a:t>Implicit_Score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-0.02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1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800" b="0"/>
                        <a:t>Launch_Support_EUR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-0.09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-0.04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0.05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800" b="0"/>
                        <a:t>Distribution_Pct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-0.04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-0.02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-0.14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800" b="0"/>
                        <a:t>Sales_vs_Target_Pct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-0.11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0.37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800" b="0"/>
                        <a:t>Repeat_Purchase_Pct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0.47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Correlations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0480">
                <a:tc>
                  <a:txBody>
                    <a:bodyPr/>
                    <a:lstStyle/>
                    <a:p>
                      <a:r>
                        <a:rPr sz="1100" b="1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Launch_Support_EUR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Distribution_Pct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Sales_vs_Target_Pct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Repeat_Purchase_Pct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1000" b="0"/>
                        <a:t>Sample_Size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1000" b="0"/>
                        <a:t>Turnaround_Days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0.05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1000" b="0"/>
                        <a:t>Research_Cost_EUR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0.05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1000" b="0"/>
                        <a:t>Stated_Appeal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0.23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1000" b="0"/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0.31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1000" b="0"/>
                        <a:t>Behavioural_Choice_Pct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0.48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1000" b="0"/>
                        <a:t>Implicit_Score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0.47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1000" b="0"/>
                        <a:t>Launch_Support_EUR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0.14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1000" b="0"/>
                        <a:t>Distribution_Pct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0.06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1000" b="0"/>
                        <a:t>Sales_vs_Target_Pct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0.25</a:t>
                      </a:r>
                    </a:p>
                  </a:txBody>
                  <a:tcPr/>
                </a:tc>
              </a:tr>
              <a:tr h="30480">
                <a:tc>
                  <a:txBody>
                    <a:bodyPr/>
                    <a:lstStyle/>
                    <a:p>
                      <a:r>
                        <a:rPr sz="1000" b="0"/>
                        <a:t>Repeat_Purchase_Pct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Research-phase ↔ launch-phase correlations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3250">
                <a:tc>
                  <a:txBody>
                    <a:bodyPr/>
                    <a:lstStyle/>
                    <a:p>
                      <a:r>
                        <a:rPr sz="1100" b="1"/>
                        <a:t>Research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Launch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Strength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r>
                        <a:rPr sz="1000" b="0"/>
                        <a:t>Behavioural_Choice_Pct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Repeat_Purchase_Pct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Moderate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r>
                        <a:rPr sz="1000" b="0"/>
                        <a:t>Implicit_Score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Repeat_Purchase_Pct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Moderate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r>
                        <a:rPr sz="1000" b="0"/>
                        <a:t>Behavioural_Choice_Pct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Sales_vs_Target_Pct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Moderate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r>
                        <a:rPr sz="1000" b="0"/>
                        <a:t>Turnaround_Days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Launch_Support_EUR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Moderate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r>
                        <a:rPr sz="1000" b="0"/>
                        <a:t>Research_Cost_EUR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Launch_Support_EUR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Moderate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r>
                        <a:rPr sz="1000" b="0"/>
                        <a:t>Implicit_Score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Sales_vs_Target_Pct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Moderate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r>
                        <a:rPr sz="1000" b="0"/>
                        <a:t>Research_Cost_EUR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Distribution_Pct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Moderate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r>
                        <a:rPr sz="1000" b="0"/>
                        <a:t>Turnaround_Days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Distribution_Pct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Moderate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r>
                        <a:rPr sz="1000" b="0"/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Repeat_Purchase_Pct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Moderate</a:t>
                      </a:r>
                    </a:p>
                  </a:txBody>
                  <a:tcPr/>
                </a:tc>
              </a:tr>
              <a:tr h="33260">
                <a:tc>
                  <a:txBody>
                    <a:bodyPr/>
                    <a:lstStyle/>
                    <a:p>
                      <a:r>
                        <a:rPr sz="1000" b="0"/>
                        <a:t>Stated_Appeal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Repeat_Purchase_Pct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Weak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Notable correlations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3250">
                <a:tc>
                  <a:txBody>
                    <a:bodyPr/>
                    <a:lstStyle/>
                    <a:p>
                      <a:r>
                        <a:rPr sz="1100" b="1"/>
                        <a:t>Variable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Variable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Strength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r>
                        <a:rPr sz="1000" b="0"/>
                        <a:t>Turnaround_Days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Research_Cost_EUR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Strong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r>
                        <a:rPr sz="1000" b="0"/>
                        <a:t>Stated_Appeal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Moderate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r>
                        <a:rPr sz="1000" b="0"/>
                        <a:t>Behavioural_Choice_Pct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Implicit_Score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Moderate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r>
                        <a:rPr sz="1000" b="0"/>
                        <a:t>Behavioural_Choice_Pct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Repeat_Purchase_Pct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Moderate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r>
                        <a:rPr sz="1000" b="0"/>
                        <a:t>Implicit_Score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Repeat_Purchase_Pct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Moderate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r>
                        <a:rPr sz="1000" b="0"/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Behavioural_Choice_Pct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Moderate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r>
                        <a:rPr sz="1000" b="0"/>
                        <a:t>Sample_Size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Research_Cost_EUR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Moderate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r>
                        <a:rPr sz="1000" b="0"/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Implicit_Score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Moderate</a:t>
                      </a:r>
                    </a:p>
                  </a:txBody>
                  <a:tcPr/>
                </a:tc>
              </a:tr>
              <a:tr h="33250">
                <a:tc>
                  <a:txBody>
                    <a:bodyPr/>
                    <a:lstStyle/>
                    <a:p>
                      <a:r>
                        <a:rPr sz="1000" b="0"/>
                        <a:t>Stated_Appeal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Behavioural_Choice_Pct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Moderate</a:t>
                      </a:r>
                    </a:p>
                  </a:txBody>
                  <a:tcPr/>
                </a:tc>
              </a:tr>
              <a:tr h="33260">
                <a:tc>
                  <a:txBody>
                    <a:bodyPr/>
                    <a:lstStyle/>
                    <a:p>
                      <a:r>
                        <a:rPr sz="1000" b="0"/>
                        <a:t>Behavioural_Choice_Pct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Sales_vs_Target_Pct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Moderate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4. Missing values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19250">
                <a:tc>
                  <a:txBody>
                    <a:bodyPr/>
                    <a:lstStyle/>
                    <a:p>
                      <a:r>
                        <a:rPr sz="1100" b="1"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Applicable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Absent by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Applicable but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% missing</a:t>
                      </a:r>
                    </a:p>
                  </a:txBody>
                  <a:tcPr/>
                </a:tc>
              </a:tr>
              <a:tr h="19250">
                <a:tc>
                  <a:txBody>
                    <a:bodyPr/>
                    <a:lstStyle/>
                    <a:p>
                      <a:r>
                        <a:rPr sz="1000" b="0"/>
                        <a:t>Concept_ID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</a:tr>
              <a:tr h="19250">
                <a:tc>
                  <a:txBody>
                    <a:bodyPr/>
                    <a:lstStyle/>
                    <a:p>
                      <a:r>
                        <a:rPr sz="1000" b="0"/>
                        <a:t>Test_Year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</a:tr>
              <a:tr h="19250">
                <a:tc>
                  <a:txBody>
                    <a:bodyPr/>
                    <a:lstStyle/>
                    <a:p>
                      <a:r>
                        <a:rPr sz="1000" b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</a:tr>
              <a:tr h="19250">
                <a:tc>
                  <a:txBody>
                    <a:bodyPr/>
                    <a:lstStyle/>
                    <a:p>
                      <a:r>
                        <a:rPr sz="1000" b="0"/>
                        <a:t>Innovation_Type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</a:tr>
              <a:tr h="19250">
                <a:tc>
                  <a:txBody>
                    <a:bodyPr/>
                    <a:lstStyle/>
                    <a:p>
                      <a:r>
                        <a:rPr sz="1000" b="0"/>
                        <a:t>Research_Package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</a:tr>
              <a:tr h="19250">
                <a:tc>
                  <a:txBody>
                    <a:bodyPr/>
                    <a:lstStyle/>
                    <a:p>
                      <a:r>
                        <a:rPr sz="1000" b="0"/>
                        <a:t>Sample_Size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</a:tr>
              <a:tr h="19250">
                <a:tc>
                  <a:txBody>
                    <a:bodyPr/>
                    <a:lstStyle/>
                    <a:p>
                      <a:r>
                        <a:rPr sz="1000" b="0"/>
                        <a:t>Research_Cost_EUR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</a:tr>
              <a:tr h="19250">
                <a:tc>
                  <a:txBody>
                    <a:bodyPr/>
                    <a:lstStyle/>
                    <a:p>
                      <a:r>
                        <a:rPr sz="1000" b="0"/>
                        <a:t>Turnaround_Days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</a:tr>
              <a:tr h="19250">
                <a:tc>
                  <a:txBody>
                    <a:bodyPr/>
                    <a:lstStyle/>
                    <a:p>
                      <a:r>
                        <a:rPr sz="1000" b="0"/>
                        <a:t>Stated_Appeal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2.1</a:t>
                      </a:r>
                    </a:p>
                  </a:txBody>
                  <a:tcPr/>
                </a:tc>
              </a:tr>
              <a:tr h="19250">
                <a:tc>
                  <a:txBody>
                    <a:bodyPr/>
                    <a:lstStyle/>
                    <a:p>
                      <a:r>
                        <a:rPr sz="1000" b="0"/>
                        <a:t>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2.7</a:t>
                      </a:r>
                    </a:p>
                  </a:txBody>
                  <a:tcPr/>
                </a:tc>
              </a:tr>
              <a:tr h="19250">
                <a:tc>
                  <a:txBody>
                    <a:bodyPr/>
                    <a:lstStyle/>
                    <a:p>
                      <a:r>
                        <a:rPr sz="1000" b="0"/>
                        <a:t>Behavioural_Choice_Pct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6.3</a:t>
                      </a:r>
                    </a:p>
                  </a:txBody>
                  <a:tcPr/>
                </a:tc>
              </a:tr>
              <a:tr h="19250">
                <a:tc>
                  <a:txBody>
                    <a:bodyPr/>
                    <a:lstStyle/>
                    <a:p>
                      <a:r>
                        <a:rPr sz="1000" b="0"/>
                        <a:t>Implicit_Score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10.2</a:t>
                      </a:r>
                    </a:p>
                  </a:txBody>
                  <a:tcPr/>
                </a:tc>
              </a:tr>
              <a:tr h="19250">
                <a:tc>
                  <a:txBody>
                    <a:bodyPr/>
                    <a:lstStyle/>
                    <a:p>
                      <a:r>
                        <a:rPr sz="1000" b="0"/>
                        <a:t>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</a:tr>
              <a:tr h="19250">
                <a:tc>
                  <a:txBody>
                    <a:bodyPr/>
                    <a:lstStyle/>
                    <a:p>
                      <a:r>
                        <a:rPr sz="1000" b="0"/>
                        <a:t>Launched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</a:t>
                      </a:r>
                    </a:p>
                  </a:txBody>
                  <a:tcPr/>
                </a:tc>
              </a:tr>
              <a:tr h="19250">
                <a:tc>
                  <a:txBody>
                    <a:bodyPr/>
                    <a:lstStyle/>
                    <a:p>
                      <a:r>
                        <a:rPr sz="1000" b="0"/>
                        <a:t>Launch_Support_EUR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7.7</a:t>
                      </a:r>
                    </a:p>
                  </a:txBody>
                  <a:tcPr/>
                </a:tc>
              </a:tr>
              <a:tr h="19250">
                <a:tc>
                  <a:txBody>
                    <a:bodyPr/>
                    <a:lstStyle/>
                    <a:p>
                      <a:r>
                        <a:rPr sz="1000" b="0"/>
                        <a:t>Distribution_Pct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4.7</a:t>
                      </a:r>
                    </a:p>
                  </a:txBody>
                  <a:tcPr/>
                </a:tc>
              </a:tr>
              <a:tr h="19250">
                <a:tc>
                  <a:txBody>
                    <a:bodyPr/>
                    <a:lstStyle/>
                    <a:p>
                      <a:r>
                        <a:rPr sz="1000" b="0"/>
                        <a:t>Sales_vs_Target_Pct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7.9</a:t>
                      </a:r>
                    </a:p>
                  </a:txBody>
                  <a:tcPr/>
                </a:tc>
              </a:tr>
              <a:tr h="19260">
                <a:tc>
                  <a:txBody>
                    <a:bodyPr/>
                    <a:lstStyle/>
                    <a:p>
                      <a:r>
                        <a:rPr sz="1000" b="0"/>
                        <a:t>Repeat_Purchase_Pct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11.2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Overall missingness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2251">
                <a:tc>
                  <a:txBody>
                    <a:bodyPr/>
                    <a:lstStyle/>
                    <a:p>
                      <a:r>
                        <a:rPr sz="1100" b="1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Value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000" b="0"/>
                        <a:t>Total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13500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000" b="0"/>
                        <a:t>Applicable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11258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000" b="0"/>
                        <a:t>Present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11047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000" b="0"/>
                        <a:t>Absent by design (valid, not missing)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2242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r>
                        <a:rPr sz="1000" b="0"/>
                        <a:t>Truly missing cells (applicable but missing)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211</a:t>
                      </a:r>
                    </a:p>
                  </a:txBody>
                  <a:tcPr/>
                </a:tc>
              </a:tr>
              <a:tr h="52254">
                <a:tc>
                  <a:txBody>
                    <a:bodyPr/>
                    <a:lstStyle/>
                    <a:p>
                      <a:r>
                        <a:rPr sz="1000" b="0"/>
                        <a:t>True missingness (% of all data)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1.56%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5. Little's MCAR test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91440">
                <a:tc>
                  <a:txBody>
                    <a:bodyPr/>
                    <a:lstStyle/>
                    <a:p>
                      <a:r>
                        <a:rPr sz="1100" b="1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Conclusion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Core research variables (all concepts)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Sample_Size, Turnaround_Days, Research_Cost_EUR, Stated_Appeal, 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Fail to reject MCAR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Launch performance (launched concepts)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Launch_Support_EUR, Distribution_Pct, Sales_vs_Target_Pct, Repeat_Purchase_Pct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Fail to reject MCAR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000" b="0"/>
                        <a:t>Implicit/behavioural (Combined packages)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Behavioural_Choice_Pct, Implicit_Score, Stated_Appeal, Purchase_Intent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Fail to reject MCAR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